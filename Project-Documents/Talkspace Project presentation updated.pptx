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Roboto Bold" charset="1" panose="02000000000000000000"/>
      <p:regular r:id="rId19"/>
    </p:embeddedFont>
    <p:embeddedFont>
      <p:font typeface="TT Norms Bold" charset="1" panose="02000803030000020004"/>
      <p:regular r:id="rId20"/>
    </p:embeddedFont>
    <p:embeddedFont>
      <p:font typeface="Magnolia Script" charset="1" panose="02000503070000020003"/>
      <p:regular r:id="rId21"/>
    </p:embeddedFont>
    <p:embeddedFont>
      <p:font typeface="Anton" charset="1" panose="00000500000000000000"/>
      <p:regular r:id="rId22"/>
    </p:embeddedFont>
    <p:embeddedFont>
      <p:font typeface="Canva Sans Bold" charset="1" panose="020B0803030501040103"/>
      <p:regular r:id="rId23"/>
    </p:embeddedFont>
    <p:embeddedFont>
      <p:font typeface="Roboto" charset="1" panose="02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1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1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63312" y="621792"/>
            <a:ext cx="3161375" cy="1643915"/>
            <a:chOff x="0" y="0"/>
            <a:chExt cx="4215167" cy="2191887"/>
          </a:xfrm>
        </p:grpSpPr>
        <p:sp>
          <p:nvSpPr>
            <p:cNvPr name="Freeform 3" id="3"/>
            <p:cNvSpPr/>
            <p:nvPr/>
          </p:nvSpPr>
          <p:spPr>
            <a:xfrm flipH="false" flipV="false" rot="0">
              <a:off x="0" y="0"/>
              <a:ext cx="4215130" cy="2191893"/>
            </a:xfrm>
            <a:custGeom>
              <a:avLst/>
              <a:gdLst/>
              <a:ahLst/>
              <a:cxnLst/>
              <a:rect r="r" b="b" t="t" l="l"/>
              <a:pathLst>
                <a:path h="2191893" w="4215130">
                  <a:moveTo>
                    <a:pt x="0" y="0"/>
                  </a:moveTo>
                  <a:lnTo>
                    <a:pt x="4215130" y="0"/>
                  </a:lnTo>
                  <a:lnTo>
                    <a:pt x="4215130" y="2191893"/>
                  </a:lnTo>
                  <a:lnTo>
                    <a:pt x="0" y="2191893"/>
                  </a:lnTo>
                  <a:lnTo>
                    <a:pt x="0" y="0"/>
                  </a:lnTo>
                  <a:close/>
                </a:path>
              </a:pathLst>
            </a:custGeom>
            <a:blipFill>
              <a:blip r:embed="rId2"/>
              <a:stretch>
                <a:fillRect l="0" t="0" r="0" b="0"/>
              </a:stretch>
            </a:blipFill>
          </p:spPr>
        </p:sp>
      </p:grpSp>
      <p:sp>
        <p:nvSpPr>
          <p:cNvPr name="Freeform 4" id="4"/>
          <p:cNvSpPr/>
          <p:nvPr/>
        </p:nvSpPr>
        <p:spPr>
          <a:xfrm flipH="false" flipV="false" rot="0">
            <a:off x="1544113" y="5957134"/>
            <a:ext cx="3832339" cy="967666"/>
          </a:xfrm>
          <a:custGeom>
            <a:avLst/>
            <a:gdLst/>
            <a:ahLst/>
            <a:cxnLst/>
            <a:rect r="r" b="b" t="t" l="l"/>
            <a:pathLst>
              <a:path h="967666" w="3832339">
                <a:moveTo>
                  <a:pt x="0" y="0"/>
                </a:moveTo>
                <a:lnTo>
                  <a:pt x="3832339" y="0"/>
                </a:lnTo>
                <a:lnTo>
                  <a:pt x="3832339" y="967666"/>
                </a:lnTo>
                <a:lnTo>
                  <a:pt x="0" y="967666"/>
                </a:lnTo>
                <a:lnTo>
                  <a:pt x="0" y="0"/>
                </a:lnTo>
                <a:close/>
              </a:path>
            </a:pathLst>
          </a:custGeom>
          <a:blipFill>
            <a:blip r:embed="rId3">
              <a:extLst>
                <a:ext uri="{96DAC541-7B7A-43D3-8B79-37D633B846F1}">
                  <asvg:svgBlip xmlns:asvg="http://schemas.microsoft.com/office/drawing/2016/SVG/main" r:embed="rId4"/>
                </a:ext>
              </a:extLst>
            </a:blip>
            <a:stretch>
              <a:fillRect l="0" t="-610" r="0" b="-610"/>
            </a:stretch>
          </a:blipFill>
        </p:spPr>
      </p:sp>
      <p:sp>
        <p:nvSpPr>
          <p:cNvPr name="Freeform 5" id="5"/>
          <p:cNvSpPr/>
          <p:nvPr/>
        </p:nvSpPr>
        <p:spPr>
          <a:xfrm flipH="false" flipV="false" rot="0">
            <a:off x="11760121" y="5999156"/>
            <a:ext cx="3629680" cy="916494"/>
          </a:xfrm>
          <a:custGeom>
            <a:avLst/>
            <a:gdLst/>
            <a:ahLst/>
            <a:cxnLst/>
            <a:rect r="r" b="b" t="t" l="l"/>
            <a:pathLst>
              <a:path h="916494" w="3629680">
                <a:moveTo>
                  <a:pt x="0" y="0"/>
                </a:moveTo>
                <a:lnTo>
                  <a:pt x="3629680" y="0"/>
                </a:lnTo>
                <a:lnTo>
                  <a:pt x="3629680" y="916494"/>
                </a:lnTo>
                <a:lnTo>
                  <a:pt x="0" y="916494"/>
                </a:lnTo>
                <a:lnTo>
                  <a:pt x="0" y="0"/>
                </a:lnTo>
                <a:close/>
              </a:path>
            </a:pathLst>
          </a:custGeom>
          <a:blipFill>
            <a:blip r:embed="rId3">
              <a:extLst>
                <a:ext uri="{96DAC541-7B7A-43D3-8B79-37D633B846F1}">
                  <asvg:svgBlip xmlns:asvg="http://schemas.microsoft.com/office/drawing/2016/SVG/main" r:embed="rId4"/>
                </a:ext>
              </a:extLst>
            </a:blip>
            <a:stretch>
              <a:fillRect l="0" t="-282" r="0" b="-282"/>
            </a:stretch>
          </a:blipFill>
        </p:spPr>
      </p:sp>
      <p:sp>
        <p:nvSpPr>
          <p:cNvPr name="TextBox 6" id="6"/>
          <p:cNvSpPr txBox="true"/>
          <p:nvPr/>
        </p:nvSpPr>
        <p:spPr>
          <a:xfrm rot="0">
            <a:off x="1934054" y="5989512"/>
            <a:ext cx="2611866" cy="540879"/>
          </a:xfrm>
          <a:prstGeom prst="rect">
            <a:avLst/>
          </a:prstGeom>
        </p:spPr>
        <p:txBody>
          <a:bodyPr anchor="t" rtlCol="false" tIns="0" lIns="0" bIns="0" rIns="0">
            <a:spAutoFit/>
          </a:bodyPr>
          <a:lstStyle/>
          <a:p>
            <a:pPr algn="ctr">
              <a:lnSpc>
                <a:spcPts val="3911"/>
              </a:lnSpc>
            </a:pPr>
            <a:r>
              <a:rPr lang="en-US" sz="2794" b="true">
                <a:solidFill>
                  <a:srgbClr val="000000"/>
                </a:solidFill>
                <a:latin typeface="Roboto Bold"/>
                <a:ea typeface="Roboto Bold"/>
                <a:cs typeface="Roboto Bold"/>
                <a:sym typeface="Roboto Bold"/>
              </a:rPr>
              <a:t>PRESENTED BY</a:t>
            </a:r>
          </a:p>
        </p:txBody>
      </p:sp>
      <p:sp>
        <p:nvSpPr>
          <p:cNvPr name="TextBox 7" id="7"/>
          <p:cNvSpPr txBox="true"/>
          <p:nvPr/>
        </p:nvSpPr>
        <p:spPr>
          <a:xfrm rot="0">
            <a:off x="11907488" y="6997340"/>
            <a:ext cx="5918775" cy="2000098"/>
          </a:xfrm>
          <a:prstGeom prst="rect">
            <a:avLst/>
          </a:prstGeom>
        </p:spPr>
        <p:txBody>
          <a:bodyPr anchor="t" rtlCol="false" tIns="0" lIns="0" bIns="0" rIns="0">
            <a:spAutoFit/>
          </a:bodyPr>
          <a:lstStyle/>
          <a:p>
            <a:pPr algn="l">
              <a:lnSpc>
                <a:spcPts val="3161"/>
              </a:lnSpc>
            </a:pPr>
            <a:r>
              <a:rPr lang="en-US" sz="2258" b="true">
                <a:solidFill>
                  <a:srgbClr val="000000"/>
                </a:solidFill>
                <a:latin typeface="Roboto Bold"/>
                <a:ea typeface="Roboto Bold"/>
                <a:cs typeface="Roboto Bold"/>
                <a:sym typeface="Roboto Bold"/>
              </a:rPr>
              <a:t>MOHIUDDIN HASAN</a:t>
            </a:r>
          </a:p>
          <a:p>
            <a:pPr algn="l">
              <a:lnSpc>
                <a:spcPts val="3161"/>
              </a:lnSpc>
            </a:pPr>
            <a:r>
              <a:rPr lang="en-US" sz="2258" b="true">
                <a:solidFill>
                  <a:srgbClr val="000000"/>
                </a:solidFill>
                <a:latin typeface="Roboto Bold"/>
                <a:ea typeface="Roboto Bold"/>
                <a:cs typeface="Roboto Bold"/>
                <a:sym typeface="Roboto Bold"/>
              </a:rPr>
              <a:t>LECTURER</a:t>
            </a:r>
          </a:p>
          <a:p>
            <a:pPr algn="l">
              <a:lnSpc>
                <a:spcPts val="3161"/>
              </a:lnSpc>
            </a:pPr>
            <a:r>
              <a:rPr lang="en-US" sz="2258" b="true">
                <a:solidFill>
                  <a:srgbClr val="000000"/>
                </a:solidFill>
                <a:latin typeface="Roboto Bold"/>
                <a:ea typeface="Roboto Bold"/>
                <a:cs typeface="Roboto Bold"/>
                <a:sym typeface="Roboto Bold"/>
              </a:rPr>
              <a:t>DEPARTMENT OF CSE</a:t>
            </a:r>
          </a:p>
          <a:p>
            <a:pPr algn="l">
              <a:lnSpc>
                <a:spcPts val="3161"/>
              </a:lnSpc>
            </a:pPr>
            <a:r>
              <a:rPr lang="en-US" sz="2258" b="true">
                <a:solidFill>
                  <a:srgbClr val="000000"/>
                </a:solidFill>
                <a:latin typeface="Roboto Bold"/>
                <a:ea typeface="Roboto Bold"/>
                <a:cs typeface="Roboto Bold"/>
                <a:sym typeface="Roboto Bold"/>
              </a:rPr>
              <a:t>DHAKA INTERNATIONAL UNIVERSITY</a:t>
            </a:r>
          </a:p>
          <a:p>
            <a:pPr algn="l">
              <a:lnSpc>
                <a:spcPts val="3161"/>
              </a:lnSpc>
            </a:pPr>
          </a:p>
        </p:txBody>
      </p:sp>
      <p:sp>
        <p:nvSpPr>
          <p:cNvPr name="TextBox 8" id="8"/>
          <p:cNvSpPr txBox="true"/>
          <p:nvPr/>
        </p:nvSpPr>
        <p:spPr>
          <a:xfrm rot="0">
            <a:off x="12208981" y="5999037"/>
            <a:ext cx="2392640" cy="530942"/>
          </a:xfrm>
          <a:prstGeom prst="rect">
            <a:avLst/>
          </a:prstGeom>
        </p:spPr>
        <p:txBody>
          <a:bodyPr anchor="t" rtlCol="false" tIns="0" lIns="0" bIns="0" rIns="0">
            <a:spAutoFit/>
          </a:bodyPr>
          <a:lstStyle/>
          <a:p>
            <a:pPr algn="ctr">
              <a:lnSpc>
                <a:spcPts val="3705"/>
              </a:lnSpc>
            </a:pPr>
            <a:r>
              <a:rPr lang="en-US" sz="2646" b="true">
                <a:solidFill>
                  <a:srgbClr val="000000"/>
                </a:solidFill>
                <a:latin typeface="Roboto Bold"/>
                <a:ea typeface="Roboto Bold"/>
                <a:cs typeface="Roboto Bold"/>
                <a:sym typeface="Roboto Bold"/>
              </a:rPr>
              <a:t>PRESENTED TO</a:t>
            </a:r>
          </a:p>
        </p:txBody>
      </p:sp>
      <p:sp>
        <p:nvSpPr>
          <p:cNvPr name="Freeform 9" id="9"/>
          <p:cNvSpPr/>
          <p:nvPr/>
        </p:nvSpPr>
        <p:spPr>
          <a:xfrm flipH="false" flipV="false" rot="0">
            <a:off x="17014263" y="0"/>
            <a:ext cx="1273737" cy="1557133"/>
          </a:xfrm>
          <a:custGeom>
            <a:avLst/>
            <a:gdLst/>
            <a:ahLst/>
            <a:cxnLst/>
            <a:rect r="r" b="b" t="t" l="l"/>
            <a:pathLst>
              <a:path h="1557133" w="1273737">
                <a:moveTo>
                  <a:pt x="0" y="0"/>
                </a:moveTo>
                <a:lnTo>
                  <a:pt x="1273737" y="0"/>
                </a:lnTo>
                <a:lnTo>
                  <a:pt x="1273737" y="1557133"/>
                </a:lnTo>
                <a:lnTo>
                  <a:pt x="0" y="1557133"/>
                </a:lnTo>
                <a:lnTo>
                  <a:pt x="0" y="0"/>
                </a:lnTo>
                <a:close/>
              </a:path>
            </a:pathLst>
          </a:custGeom>
          <a:blipFill>
            <a:blip r:embed="rId5"/>
            <a:stretch>
              <a:fillRect l="-19587" t="0" r="-2661" b="0"/>
            </a:stretch>
          </a:blipFill>
        </p:spPr>
      </p:sp>
      <p:sp>
        <p:nvSpPr>
          <p:cNvPr name="TextBox 10" id="10"/>
          <p:cNvSpPr txBox="true"/>
          <p:nvPr/>
        </p:nvSpPr>
        <p:spPr>
          <a:xfrm rot="0">
            <a:off x="2927285" y="2298585"/>
            <a:ext cx="12462516" cy="3799235"/>
          </a:xfrm>
          <a:prstGeom prst="rect">
            <a:avLst/>
          </a:prstGeom>
        </p:spPr>
        <p:txBody>
          <a:bodyPr anchor="t" rtlCol="false" tIns="0" lIns="0" bIns="0" rIns="0">
            <a:spAutoFit/>
          </a:bodyPr>
          <a:lstStyle/>
          <a:p>
            <a:pPr algn="ctr">
              <a:lnSpc>
                <a:spcPts val="6201"/>
              </a:lnSpc>
            </a:pPr>
            <a:r>
              <a:rPr lang="en-US" b="true" sz="6201">
                <a:solidFill>
                  <a:srgbClr val="020C45"/>
                </a:solidFill>
                <a:latin typeface="TT Norms Bold"/>
                <a:ea typeface="TT Norms Bold"/>
                <a:cs typeface="TT Norms Bold"/>
                <a:sym typeface="TT Norms Bold"/>
              </a:rPr>
              <a:t>DATA STRUCTURE LAB</a:t>
            </a:r>
          </a:p>
          <a:p>
            <a:pPr algn="ctr">
              <a:lnSpc>
                <a:spcPts val="3301"/>
              </a:lnSpc>
            </a:pPr>
            <a:r>
              <a:rPr lang="en-US" sz="3301">
                <a:solidFill>
                  <a:srgbClr val="000000"/>
                </a:solidFill>
                <a:latin typeface="Magnolia Script"/>
                <a:ea typeface="Magnolia Script"/>
                <a:cs typeface="Magnolia Script"/>
                <a:sym typeface="Magnolia Script"/>
              </a:rPr>
              <a:t>COURSE CODE: </a:t>
            </a:r>
            <a:r>
              <a:rPr lang="en-US" sz="3301">
                <a:solidFill>
                  <a:srgbClr val="000000"/>
                </a:solidFill>
                <a:latin typeface="Magnolia Script"/>
                <a:ea typeface="Magnolia Script"/>
                <a:cs typeface="Magnolia Script"/>
                <a:sym typeface="Magnolia Script"/>
              </a:rPr>
              <a:t>0613-104</a:t>
            </a:r>
          </a:p>
          <a:p>
            <a:pPr algn="ctr">
              <a:lnSpc>
                <a:spcPts val="3201"/>
              </a:lnSpc>
            </a:pPr>
          </a:p>
          <a:p>
            <a:pPr algn="ctr">
              <a:lnSpc>
                <a:spcPts val="12999"/>
              </a:lnSpc>
            </a:pPr>
            <a:r>
              <a:rPr lang="en-US" sz="12999">
                <a:solidFill>
                  <a:srgbClr val="7A0000"/>
                </a:solidFill>
                <a:latin typeface="Anton"/>
                <a:ea typeface="Anton"/>
                <a:cs typeface="Anton"/>
                <a:sym typeface="Anton"/>
              </a:rPr>
              <a:t>TALKSPACE</a:t>
            </a:r>
          </a:p>
          <a:p>
            <a:pPr algn="ctr">
              <a:lnSpc>
                <a:spcPts val="4201"/>
              </a:lnSpc>
            </a:pPr>
          </a:p>
        </p:txBody>
      </p:sp>
      <p:sp>
        <p:nvSpPr>
          <p:cNvPr name="TextBox 11" id="11"/>
          <p:cNvSpPr txBox="true"/>
          <p:nvPr/>
        </p:nvSpPr>
        <p:spPr>
          <a:xfrm rot="0">
            <a:off x="2122628" y="7041813"/>
            <a:ext cx="5744398" cy="3644935"/>
          </a:xfrm>
          <a:prstGeom prst="rect">
            <a:avLst/>
          </a:prstGeom>
        </p:spPr>
        <p:txBody>
          <a:bodyPr anchor="t" rtlCol="false" tIns="0" lIns="0" bIns="0" rIns="0">
            <a:spAutoFit/>
          </a:bodyPr>
          <a:lstStyle/>
          <a:p>
            <a:pPr algn="l">
              <a:lnSpc>
                <a:spcPts val="3746"/>
              </a:lnSpc>
            </a:pPr>
            <a:r>
              <a:rPr lang="en-US" sz="2497" b="true">
                <a:solidFill>
                  <a:srgbClr val="000000"/>
                </a:solidFill>
                <a:latin typeface="Roboto Bold"/>
                <a:ea typeface="Roboto Bold"/>
                <a:cs typeface="Roboto Bold"/>
                <a:sym typeface="Roboto Bold"/>
              </a:rPr>
              <a:t>02.</a:t>
            </a:r>
            <a:r>
              <a:rPr lang="en-US" sz="2497" b="true">
                <a:solidFill>
                  <a:srgbClr val="000000"/>
                </a:solidFill>
                <a:latin typeface="Roboto Bold"/>
                <a:ea typeface="Roboto Bold"/>
                <a:cs typeface="Roboto Bold"/>
                <a:sym typeface="Roboto Bold"/>
              </a:rPr>
              <a:t> Mosaddek Hossain Mehedi</a:t>
            </a:r>
          </a:p>
          <a:p>
            <a:pPr algn="l">
              <a:lnSpc>
                <a:spcPts val="3746"/>
              </a:lnSpc>
            </a:pPr>
            <a:r>
              <a:rPr lang="en-US" sz="2497" b="true">
                <a:solidFill>
                  <a:srgbClr val="000000"/>
                </a:solidFill>
                <a:latin typeface="Roboto Bold"/>
                <a:ea typeface="Roboto Bold"/>
                <a:cs typeface="Roboto Bold"/>
                <a:sym typeface="Roboto Bold"/>
              </a:rPr>
              <a:t>17. Saiful Islam</a:t>
            </a:r>
          </a:p>
          <a:p>
            <a:pPr algn="l">
              <a:lnSpc>
                <a:spcPts val="3746"/>
              </a:lnSpc>
            </a:pPr>
            <a:r>
              <a:rPr lang="en-US" sz="2497" b="true">
                <a:solidFill>
                  <a:srgbClr val="000000"/>
                </a:solidFill>
                <a:latin typeface="Roboto Bold"/>
                <a:ea typeface="Roboto Bold"/>
                <a:cs typeface="Roboto Bold"/>
                <a:sym typeface="Roboto Bold"/>
              </a:rPr>
              <a:t>21. Hasibul Hoque Probal</a:t>
            </a:r>
          </a:p>
          <a:p>
            <a:pPr algn="l">
              <a:lnSpc>
                <a:spcPts val="3746"/>
              </a:lnSpc>
            </a:pPr>
            <a:r>
              <a:rPr lang="en-US" sz="2497" b="true">
                <a:solidFill>
                  <a:srgbClr val="000000"/>
                </a:solidFill>
                <a:latin typeface="Roboto Bold"/>
                <a:ea typeface="Roboto Bold"/>
                <a:cs typeface="Roboto Bold"/>
                <a:sym typeface="Roboto Bold"/>
              </a:rPr>
              <a:t>22. Mst. Sultana Yeasmin Suma</a:t>
            </a:r>
          </a:p>
          <a:p>
            <a:pPr algn="l">
              <a:lnSpc>
                <a:spcPts val="3746"/>
              </a:lnSpc>
            </a:pPr>
            <a:r>
              <a:rPr lang="en-US" sz="2497" b="true">
                <a:solidFill>
                  <a:srgbClr val="000000"/>
                </a:solidFill>
                <a:latin typeface="Roboto Bold"/>
                <a:ea typeface="Roboto Bold"/>
                <a:cs typeface="Roboto Bold"/>
                <a:sym typeface="Roboto Bold"/>
              </a:rPr>
              <a:t>40. Azizur Rahman Arzu</a:t>
            </a:r>
          </a:p>
          <a:p>
            <a:pPr algn="l">
              <a:lnSpc>
                <a:spcPts val="3496"/>
              </a:lnSpc>
            </a:pPr>
          </a:p>
          <a:p>
            <a:pPr algn="l">
              <a:lnSpc>
                <a:spcPts val="3497"/>
              </a:lnSpc>
            </a:pPr>
          </a:p>
          <a:p>
            <a:pPr algn="l">
              <a:lnSpc>
                <a:spcPts val="3497"/>
              </a:lnSpc>
            </a:pPr>
          </a:p>
        </p:txBody>
      </p:sp>
      <p:sp>
        <p:nvSpPr>
          <p:cNvPr name="Freeform 12" id="12"/>
          <p:cNvSpPr/>
          <p:nvPr/>
        </p:nvSpPr>
        <p:spPr>
          <a:xfrm flipH="false" flipV="false" rot="0">
            <a:off x="1583072" y="7054490"/>
            <a:ext cx="433053" cy="433053"/>
          </a:xfrm>
          <a:custGeom>
            <a:avLst/>
            <a:gdLst/>
            <a:ahLst/>
            <a:cxnLst/>
            <a:rect r="r" b="b" t="t" l="l"/>
            <a:pathLst>
              <a:path h="433053" w="433053">
                <a:moveTo>
                  <a:pt x="0" y="0"/>
                </a:moveTo>
                <a:lnTo>
                  <a:pt x="433053" y="0"/>
                </a:lnTo>
                <a:lnTo>
                  <a:pt x="433053" y="433053"/>
                </a:lnTo>
                <a:lnTo>
                  <a:pt x="0" y="4330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583072" y="8930955"/>
            <a:ext cx="433053" cy="433053"/>
          </a:xfrm>
          <a:custGeom>
            <a:avLst/>
            <a:gdLst/>
            <a:ahLst/>
            <a:cxnLst/>
            <a:rect r="r" b="b" t="t" l="l"/>
            <a:pathLst>
              <a:path h="433053" w="433053">
                <a:moveTo>
                  <a:pt x="0" y="0"/>
                </a:moveTo>
                <a:lnTo>
                  <a:pt x="433053" y="0"/>
                </a:lnTo>
                <a:lnTo>
                  <a:pt x="433053" y="433053"/>
                </a:lnTo>
                <a:lnTo>
                  <a:pt x="0" y="4330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544113" y="8443355"/>
            <a:ext cx="459026" cy="459025"/>
          </a:xfrm>
          <a:custGeom>
            <a:avLst/>
            <a:gdLst/>
            <a:ahLst/>
            <a:cxnLst/>
            <a:rect r="r" b="b" t="t" l="l"/>
            <a:pathLst>
              <a:path h="459025" w="459026">
                <a:moveTo>
                  <a:pt x="0" y="0"/>
                </a:moveTo>
                <a:lnTo>
                  <a:pt x="459025" y="0"/>
                </a:lnTo>
                <a:lnTo>
                  <a:pt x="459025" y="459025"/>
                </a:lnTo>
                <a:lnTo>
                  <a:pt x="0" y="4590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83072" y="7520099"/>
            <a:ext cx="433053" cy="433053"/>
          </a:xfrm>
          <a:custGeom>
            <a:avLst/>
            <a:gdLst/>
            <a:ahLst/>
            <a:cxnLst/>
            <a:rect r="r" b="b" t="t" l="l"/>
            <a:pathLst>
              <a:path h="433053" w="433053">
                <a:moveTo>
                  <a:pt x="0" y="0"/>
                </a:moveTo>
                <a:lnTo>
                  <a:pt x="433053" y="0"/>
                </a:lnTo>
                <a:lnTo>
                  <a:pt x="433053" y="433053"/>
                </a:lnTo>
                <a:lnTo>
                  <a:pt x="0" y="4330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70086" y="7981727"/>
            <a:ext cx="433053" cy="433053"/>
          </a:xfrm>
          <a:custGeom>
            <a:avLst/>
            <a:gdLst/>
            <a:ahLst/>
            <a:cxnLst/>
            <a:rect r="r" b="b" t="t" l="l"/>
            <a:pathLst>
              <a:path h="433053" w="433053">
                <a:moveTo>
                  <a:pt x="0" y="0"/>
                </a:moveTo>
                <a:lnTo>
                  <a:pt x="433052" y="0"/>
                </a:lnTo>
                <a:lnTo>
                  <a:pt x="433052" y="433053"/>
                </a:lnTo>
                <a:lnTo>
                  <a:pt x="0" y="4330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TextBox 3" id="3"/>
          <p:cNvSpPr txBox="true"/>
          <p:nvPr/>
        </p:nvSpPr>
        <p:spPr>
          <a:xfrm rot="0">
            <a:off x="415184" y="2337420"/>
            <a:ext cx="16844116" cy="3175635"/>
          </a:xfrm>
          <a:prstGeom prst="rect">
            <a:avLst/>
          </a:prstGeom>
        </p:spPr>
        <p:txBody>
          <a:bodyPr anchor="t" rtlCol="false" tIns="0" lIns="0" bIns="0" rIns="0">
            <a:spAutoFit/>
          </a:bodyPr>
          <a:lstStyle/>
          <a:p>
            <a:pPr algn="l">
              <a:lnSpc>
                <a:spcPts val="5040"/>
              </a:lnSpc>
            </a:pPr>
            <a:r>
              <a:rPr lang="en-US" b="true" sz="3600">
                <a:solidFill>
                  <a:srgbClr val="000000"/>
                </a:solidFill>
                <a:latin typeface="Roboto Bold"/>
                <a:ea typeface="Roboto Bold"/>
                <a:cs typeface="Roboto Bold"/>
                <a:sym typeface="Roboto Bold"/>
              </a:rPr>
              <a:t>TalkSpace i</a:t>
            </a:r>
            <a:r>
              <a:rPr lang="en-US" b="true" sz="3600">
                <a:solidFill>
                  <a:srgbClr val="000000"/>
                </a:solidFill>
                <a:latin typeface="Roboto Bold"/>
                <a:ea typeface="Roboto Bold"/>
                <a:cs typeface="Roboto Bold"/>
                <a:sym typeface="Roboto Bold"/>
              </a:rPr>
              <a:t>s a console-based chat system where two users take turns sending messages. The application stores messages in a file, displays the chat history and provides options to search, edit, delete, clear history and exit the chat. The project demonstrates basic programming concepts such as user input, loops, arrays and vectors, file handling and string manipulation</a:t>
            </a:r>
          </a:p>
        </p:txBody>
      </p:sp>
      <p:sp>
        <p:nvSpPr>
          <p:cNvPr name="Freeform 4" id="4"/>
          <p:cNvSpPr/>
          <p:nvPr/>
        </p:nvSpPr>
        <p:spPr>
          <a:xfrm flipH="false" flipV="false" rot="0">
            <a:off x="1215985" y="1932552"/>
            <a:ext cx="5073729" cy="148927"/>
          </a:xfrm>
          <a:custGeom>
            <a:avLst/>
            <a:gdLst/>
            <a:ahLst/>
            <a:cxnLst/>
            <a:rect r="r" b="b" t="t" l="l"/>
            <a:pathLst>
              <a:path h="148927" w="5073729">
                <a:moveTo>
                  <a:pt x="0" y="0"/>
                </a:moveTo>
                <a:lnTo>
                  <a:pt x="5073729" y="0"/>
                </a:lnTo>
                <a:lnTo>
                  <a:pt x="5073729" y="148927"/>
                </a:lnTo>
                <a:lnTo>
                  <a:pt x="0" y="148927"/>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5" id="5"/>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028699" y="906892"/>
            <a:ext cx="5448300" cy="954735"/>
          </a:xfrm>
          <a:prstGeom prst="rect">
            <a:avLst/>
          </a:prstGeom>
        </p:spPr>
        <p:txBody>
          <a:bodyPr anchor="t" rtlCol="false" tIns="0" lIns="0" bIns="0" rIns="0">
            <a:spAutoFit/>
          </a:bodyPr>
          <a:lstStyle/>
          <a:p>
            <a:pPr algn="ctr">
              <a:lnSpc>
                <a:spcPts val="7753"/>
              </a:lnSpc>
            </a:pPr>
            <a:r>
              <a:rPr lang="en-US" sz="5538" b="true">
                <a:solidFill>
                  <a:srgbClr val="000000"/>
                </a:solidFill>
                <a:latin typeface="Roboto Bold"/>
                <a:ea typeface="Roboto Bold"/>
                <a:cs typeface="Roboto Bold"/>
                <a:sym typeface="Roboto Bold"/>
              </a:rPr>
              <a:t>INTRODUCTION</a:t>
            </a:r>
          </a:p>
        </p:txBody>
      </p:sp>
      <p:sp>
        <p:nvSpPr>
          <p:cNvPr name="TextBox 7" id="7"/>
          <p:cNvSpPr txBox="true"/>
          <p:nvPr/>
        </p:nvSpPr>
        <p:spPr>
          <a:xfrm rot="0">
            <a:off x="17838705" y="543216"/>
            <a:ext cx="171093" cy="477976"/>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TextBox 3" id="3"/>
          <p:cNvSpPr txBox="true"/>
          <p:nvPr/>
        </p:nvSpPr>
        <p:spPr>
          <a:xfrm rot="0">
            <a:off x="824531" y="2241233"/>
            <a:ext cx="16638938" cy="8281035"/>
          </a:xfrm>
          <a:prstGeom prst="rect">
            <a:avLst/>
          </a:prstGeom>
        </p:spPr>
        <p:txBody>
          <a:bodyPr anchor="t" rtlCol="false" tIns="0" lIns="0" bIns="0" rIns="0">
            <a:spAutoFit/>
          </a:bodyPr>
          <a:lstStyle/>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Bi-polar conversation between users</a:t>
            </a:r>
            <a:r>
              <a:rPr lang="en-US" b="true" sz="3600">
                <a:solidFill>
                  <a:srgbClr val="000000"/>
                </a:solidFill>
                <a:latin typeface="Roboto Bold"/>
                <a:ea typeface="Roboto Bold"/>
                <a:cs typeface="Roboto Bold"/>
                <a:sym typeface="Roboto Bold"/>
              </a:rPr>
              <a:t>.</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Unique username for users.</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Saving Chat History: </a:t>
            </a:r>
            <a:r>
              <a:rPr lang="en-US" sz="3600">
                <a:solidFill>
                  <a:srgbClr val="000000"/>
                </a:solidFill>
                <a:latin typeface="Roboto"/>
                <a:ea typeface="Roboto"/>
                <a:cs typeface="Roboto"/>
                <a:sym typeface="Roboto"/>
              </a:rPr>
              <a:t>Sent messages are stored &amp; displayed.</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Clear History: </a:t>
            </a:r>
            <a:r>
              <a:rPr lang="en-US" sz="3600">
                <a:solidFill>
                  <a:srgbClr val="000000"/>
                </a:solidFill>
                <a:latin typeface="Roboto"/>
                <a:ea typeface="Roboto"/>
                <a:cs typeface="Roboto"/>
                <a:sym typeface="Roboto"/>
              </a:rPr>
              <a:t>Users can clear the chat history during the chat session.</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Exit conversation: </a:t>
            </a:r>
            <a:r>
              <a:rPr lang="en-US" sz="3600">
                <a:solidFill>
                  <a:srgbClr val="000000"/>
                </a:solidFill>
                <a:latin typeface="Roboto"/>
                <a:ea typeface="Roboto"/>
                <a:cs typeface="Roboto"/>
                <a:sym typeface="Roboto"/>
              </a:rPr>
              <a:t>The chat session can be ended by typing ‘exit’.</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Search Messages: </a:t>
            </a:r>
            <a:r>
              <a:rPr lang="en-US" sz="3600">
                <a:solidFill>
                  <a:srgbClr val="000000"/>
                </a:solidFill>
                <a:latin typeface="Roboto"/>
                <a:ea typeface="Roboto"/>
                <a:cs typeface="Roboto"/>
                <a:sym typeface="Roboto"/>
              </a:rPr>
              <a:t>Specific text can be found using the ‘search’ command.</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Edit Message: </a:t>
            </a:r>
            <a:r>
              <a:rPr lang="en-US" sz="3600">
                <a:solidFill>
                  <a:srgbClr val="000000"/>
                </a:solidFill>
                <a:latin typeface="Roboto"/>
                <a:ea typeface="Roboto"/>
                <a:cs typeface="Roboto"/>
                <a:sym typeface="Roboto"/>
              </a:rPr>
              <a:t>Last message can be edited by typing ‘Edit’.</a:t>
            </a:r>
          </a:p>
          <a:p>
            <a:pPr algn="l" marL="777240" indent="-388620" lvl="1">
              <a:lnSpc>
                <a:spcPts val="5040"/>
              </a:lnSpc>
              <a:buFont typeface="Arial"/>
              <a:buChar char="•"/>
            </a:pPr>
            <a:r>
              <a:rPr lang="en-US" b="true" sz="3600">
                <a:solidFill>
                  <a:srgbClr val="000000"/>
                </a:solidFill>
                <a:latin typeface="Roboto Bold"/>
                <a:ea typeface="Roboto Bold"/>
                <a:cs typeface="Roboto Bold"/>
                <a:sym typeface="Roboto Bold"/>
              </a:rPr>
              <a:t>Delete conversation: </a:t>
            </a:r>
            <a:r>
              <a:rPr lang="en-US" sz="3600">
                <a:solidFill>
                  <a:srgbClr val="000000"/>
                </a:solidFill>
                <a:latin typeface="Roboto"/>
                <a:ea typeface="Roboto"/>
                <a:cs typeface="Roboto"/>
                <a:sym typeface="Roboto"/>
              </a:rPr>
              <a:t>Last message can be deleted by typing ‘delete’.</a:t>
            </a:r>
          </a:p>
          <a:p>
            <a:pPr algn="l">
              <a:lnSpc>
                <a:spcPts val="5040"/>
              </a:lnSpc>
            </a:pPr>
          </a:p>
          <a:p>
            <a:pPr algn="l">
              <a:lnSpc>
                <a:spcPts val="5040"/>
              </a:lnSpc>
            </a:pPr>
          </a:p>
          <a:p>
            <a:pPr algn="l">
              <a:lnSpc>
                <a:spcPts val="5040"/>
              </a:lnSpc>
            </a:pPr>
          </a:p>
          <a:p>
            <a:pPr algn="l">
              <a:lnSpc>
                <a:spcPts val="5040"/>
              </a:lnSpc>
            </a:pPr>
          </a:p>
          <a:p>
            <a:pPr algn="l" marL="822960" indent="-274320" lvl="2">
              <a:lnSpc>
                <a:spcPts val="5040"/>
              </a:lnSpc>
            </a:pPr>
          </a:p>
        </p:txBody>
      </p:sp>
      <p:sp>
        <p:nvSpPr>
          <p:cNvPr name="Freeform 4" id="4"/>
          <p:cNvSpPr/>
          <p:nvPr/>
        </p:nvSpPr>
        <p:spPr>
          <a:xfrm flipH="false" flipV="false" rot="0">
            <a:off x="1215985" y="1932552"/>
            <a:ext cx="5073729" cy="148927"/>
          </a:xfrm>
          <a:custGeom>
            <a:avLst/>
            <a:gdLst/>
            <a:ahLst/>
            <a:cxnLst/>
            <a:rect r="r" b="b" t="t" l="l"/>
            <a:pathLst>
              <a:path h="148927" w="5073729">
                <a:moveTo>
                  <a:pt x="0" y="0"/>
                </a:moveTo>
                <a:lnTo>
                  <a:pt x="5073729" y="0"/>
                </a:lnTo>
                <a:lnTo>
                  <a:pt x="5073729" y="148927"/>
                </a:lnTo>
                <a:lnTo>
                  <a:pt x="0" y="148927"/>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5" id="5"/>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215985" y="914400"/>
            <a:ext cx="8459002" cy="954735"/>
          </a:xfrm>
          <a:prstGeom prst="rect">
            <a:avLst/>
          </a:prstGeom>
        </p:spPr>
        <p:txBody>
          <a:bodyPr anchor="t" rtlCol="false" tIns="0" lIns="0" bIns="0" rIns="0">
            <a:spAutoFit/>
          </a:bodyPr>
          <a:lstStyle/>
          <a:p>
            <a:pPr algn="l">
              <a:lnSpc>
                <a:spcPts val="7753"/>
              </a:lnSpc>
            </a:pPr>
            <a:r>
              <a:rPr lang="en-US" sz="5538" b="true">
                <a:solidFill>
                  <a:srgbClr val="000000"/>
                </a:solidFill>
                <a:latin typeface="Roboto Bold"/>
                <a:ea typeface="Roboto Bold"/>
                <a:cs typeface="Roboto Bold"/>
                <a:sym typeface="Roboto Bold"/>
              </a:rPr>
              <a:t>DEPLOY</a:t>
            </a:r>
            <a:r>
              <a:rPr lang="en-US" sz="5538" b="true">
                <a:solidFill>
                  <a:srgbClr val="000000"/>
                </a:solidFill>
                <a:latin typeface="Roboto Bold"/>
                <a:ea typeface="Roboto Bold"/>
                <a:cs typeface="Roboto Bold"/>
                <a:sym typeface="Roboto Bold"/>
              </a:rPr>
              <a:t>ED FEATURES </a:t>
            </a:r>
          </a:p>
        </p:txBody>
      </p:sp>
      <p:sp>
        <p:nvSpPr>
          <p:cNvPr name="TextBox 7" id="7"/>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613513" y="2331451"/>
            <a:ext cx="11777594"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     int main() </a:t>
            </a:r>
            <a:r>
              <a:rPr lang="en-US" sz="2497">
                <a:solidFill>
                  <a:srgbClr val="000000"/>
                </a:solidFill>
                <a:latin typeface="Roboto"/>
                <a:ea typeface="Roboto"/>
                <a:cs typeface="Roboto"/>
                <a:sym typeface="Roboto"/>
              </a:rPr>
              <a:t>saves the custom username using Loop statements for further use.</a:t>
            </a:r>
          </a:p>
        </p:txBody>
      </p:sp>
      <p:sp>
        <p:nvSpPr>
          <p:cNvPr name="Freeform 6" id="6"/>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7" id="7"/>
          <p:cNvSpPr/>
          <p:nvPr/>
        </p:nvSpPr>
        <p:spPr>
          <a:xfrm flipH="false" flipV="false" rot="0">
            <a:off x="1028700" y="3497241"/>
            <a:ext cx="7128842" cy="4192118"/>
          </a:xfrm>
          <a:custGeom>
            <a:avLst/>
            <a:gdLst/>
            <a:ahLst/>
            <a:cxnLst/>
            <a:rect r="r" b="b" t="t" l="l"/>
            <a:pathLst>
              <a:path h="4192118" w="7128842">
                <a:moveTo>
                  <a:pt x="0" y="0"/>
                </a:moveTo>
                <a:lnTo>
                  <a:pt x="7128842" y="0"/>
                </a:lnTo>
                <a:lnTo>
                  <a:pt x="7128842" y="4192117"/>
                </a:lnTo>
                <a:lnTo>
                  <a:pt x="0" y="4192117"/>
                </a:lnTo>
                <a:lnTo>
                  <a:pt x="0" y="0"/>
                </a:lnTo>
                <a:close/>
              </a:path>
            </a:pathLst>
          </a:custGeom>
          <a:blipFill>
            <a:blip r:embed="rId10"/>
            <a:stretch>
              <a:fillRect l="0" t="0" r="0" b="0"/>
            </a:stretch>
          </a:blipFill>
        </p:spPr>
      </p:sp>
      <p:sp>
        <p:nvSpPr>
          <p:cNvPr name="Freeform 8" id="8"/>
          <p:cNvSpPr/>
          <p:nvPr/>
        </p:nvSpPr>
        <p:spPr>
          <a:xfrm flipH="false" flipV="false" rot="0">
            <a:off x="8386601" y="4574844"/>
            <a:ext cx="8872699" cy="1448293"/>
          </a:xfrm>
          <a:custGeom>
            <a:avLst/>
            <a:gdLst/>
            <a:ahLst/>
            <a:cxnLst/>
            <a:rect r="r" b="b" t="t" l="l"/>
            <a:pathLst>
              <a:path h="1448293" w="8872699">
                <a:moveTo>
                  <a:pt x="0" y="0"/>
                </a:moveTo>
                <a:lnTo>
                  <a:pt x="8872699" y="0"/>
                </a:lnTo>
                <a:lnTo>
                  <a:pt x="8872699" y="1448293"/>
                </a:lnTo>
                <a:lnTo>
                  <a:pt x="0" y="1448293"/>
                </a:lnTo>
                <a:lnTo>
                  <a:pt x="0" y="0"/>
                </a:lnTo>
                <a:close/>
              </a:path>
            </a:pathLst>
          </a:custGeom>
          <a:blipFill>
            <a:blip r:embed="rId11"/>
            <a:stretch>
              <a:fillRect l="0" t="0" r="0" b="0"/>
            </a:stretch>
          </a:blipFill>
        </p:spPr>
      </p:sp>
      <p:sp>
        <p:nvSpPr>
          <p:cNvPr name="TextBox 9" id="9"/>
          <p:cNvSpPr txBox="true"/>
          <p:nvPr/>
        </p:nvSpPr>
        <p:spPr>
          <a:xfrm rot="0">
            <a:off x="1215985" y="369636"/>
            <a:ext cx="6575347"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Custom</a:t>
            </a:r>
            <a:r>
              <a:rPr lang="en-US" sz="3000">
                <a:solidFill>
                  <a:srgbClr val="000000"/>
                </a:solidFill>
                <a:latin typeface="Roboto"/>
                <a:ea typeface="Roboto"/>
                <a:cs typeface="Roboto"/>
                <a:sym typeface="Roboto"/>
              </a:rPr>
              <a:t> Username</a:t>
            </a:r>
          </a:p>
        </p:txBody>
      </p:sp>
      <p:sp>
        <p:nvSpPr>
          <p:cNvPr name="TextBox 10" id="10"/>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Display Chat History</a:t>
            </a:r>
          </a:p>
        </p:txBody>
      </p:sp>
      <p:sp>
        <p:nvSpPr>
          <p:cNvPr name="TextBox 6" id="6"/>
          <p:cNvSpPr txBox="true"/>
          <p:nvPr/>
        </p:nvSpPr>
        <p:spPr>
          <a:xfrm rot="0">
            <a:off x="1613513" y="2331451"/>
            <a:ext cx="12976452"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     displayChatHistory() </a:t>
            </a:r>
            <a:r>
              <a:rPr lang="en-US" sz="2497">
                <a:solidFill>
                  <a:srgbClr val="000000"/>
                </a:solidFill>
                <a:latin typeface="Roboto"/>
                <a:ea typeface="Roboto"/>
                <a:cs typeface="Roboto"/>
                <a:sym typeface="Roboto"/>
              </a:rPr>
              <a:t>displays the chat history stored in an array.</a:t>
            </a:r>
          </a:p>
        </p:txBody>
      </p:sp>
      <p:sp>
        <p:nvSpPr>
          <p:cNvPr name="Freeform 7" id="7"/>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8" id="8"/>
          <p:cNvSpPr/>
          <p:nvPr/>
        </p:nvSpPr>
        <p:spPr>
          <a:xfrm flipH="false" flipV="false" rot="0">
            <a:off x="10033903" y="3915597"/>
            <a:ext cx="7225397" cy="3939337"/>
          </a:xfrm>
          <a:custGeom>
            <a:avLst/>
            <a:gdLst/>
            <a:ahLst/>
            <a:cxnLst/>
            <a:rect r="r" b="b" t="t" l="l"/>
            <a:pathLst>
              <a:path h="3939337" w="7225397">
                <a:moveTo>
                  <a:pt x="0" y="0"/>
                </a:moveTo>
                <a:lnTo>
                  <a:pt x="7225397" y="0"/>
                </a:lnTo>
                <a:lnTo>
                  <a:pt x="7225397" y="3939338"/>
                </a:lnTo>
                <a:lnTo>
                  <a:pt x="0" y="3939338"/>
                </a:lnTo>
                <a:lnTo>
                  <a:pt x="0" y="0"/>
                </a:lnTo>
                <a:close/>
              </a:path>
            </a:pathLst>
          </a:custGeom>
          <a:blipFill>
            <a:blip r:embed="rId10"/>
            <a:stretch>
              <a:fillRect l="0" t="0" r="0" b="-143344"/>
            </a:stretch>
          </a:blipFill>
        </p:spPr>
      </p:sp>
      <p:sp>
        <p:nvSpPr>
          <p:cNvPr name="TextBox 9" id="9"/>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4</a:t>
            </a:r>
          </a:p>
        </p:txBody>
      </p:sp>
      <p:sp>
        <p:nvSpPr>
          <p:cNvPr name="Freeform 10" id="10"/>
          <p:cNvSpPr/>
          <p:nvPr/>
        </p:nvSpPr>
        <p:spPr>
          <a:xfrm flipH="false" flipV="false" rot="0">
            <a:off x="1028700" y="3823819"/>
            <a:ext cx="8858652" cy="4122895"/>
          </a:xfrm>
          <a:custGeom>
            <a:avLst/>
            <a:gdLst/>
            <a:ahLst/>
            <a:cxnLst/>
            <a:rect r="r" b="b" t="t" l="l"/>
            <a:pathLst>
              <a:path h="4122895" w="8858652">
                <a:moveTo>
                  <a:pt x="0" y="0"/>
                </a:moveTo>
                <a:lnTo>
                  <a:pt x="8858652" y="0"/>
                </a:lnTo>
                <a:lnTo>
                  <a:pt x="8858652" y="4122894"/>
                </a:lnTo>
                <a:lnTo>
                  <a:pt x="0" y="4122894"/>
                </a:lnTo>
                <a:lnTo>
                  <a:pt x="0" y="0"/>
                </a:lnTo>
                <a:close/>
              </a:path>
            </a:pathLst>
          </a:custGeom>
          <a:blipFill>
            <a:blip r:embed="rId11"/>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613513" y="2331451"/>
            <a:ext cx="12976452"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     loadingChatHistory() </a:t>
            </a:r>
            <a:r>
              <a:rPr lang="en-US" sz="2497">
                <a:solidFill>
                  <a:srgbClr val="000000"/>
                </a:solidFill>
                <a:latin typeface="Roboto"/>
                <a:ea typeface="Roboto"/>
                <a:cs typeface="Roboto"/>
                <a:sym typeface="Roboto"/>
              </a:rPr>
              <a:t>loads previous messages from the saved chat history.</a:t>
            </a:r>
          </a:p>
        </p:txBody>
      </p:sp>
      <p:sp>
        <p:nvSpPr>
          <p:cNvPr name="Freeform 6" id="6"/>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7" id="7"/>
          <p:cNvSpPr/>
          <p:nvPr/>
        </p:nvSpPr>
        <p:spPr>
          <a:xfrm flipH="false" flipV="false" rot="0">
            <a:off x="1116387" y="3712700"/>
            <a:ext cx="8641588" cy="4345132"/>
          </a:xfrm>
          <a:custGeom>
            <a:avLst/>
            <a:gdLst/>
            <a:ahLst/>
            <a:cxnLst/>
            <a:rect r="r" b="b" t="t" l="l"/>
            <a:pathLst>
              <a:path h="4345132" w="8641588">
                <a:moveTo>
                  <a:pt x="0" y="0"/>
                </a:moveTo>
                <a:lnTo>
                  <a:pt x="8641588" y="0"/>
                </a:lnTo>
                <a:lnTo>
                  <a:pt x="8641588" y="4345132"/>
                </a:lnTo>
                <a:lnTo>
                  <a:pt x="0" y="4345132"/>
                </a:lnTo>
                <a:lnTo>
                  <a:pt x="0" y="0"/>
                </a:lnTo>
                <a:close/>
              </a:path>
            </a:pathLst>
          </a:custGeom>
          <a:blipFill>
            <a:blip r:embed="rId10"/>
            <a:stretch>
              <a:fillRect l="0" t="0" r="-8772" b="0"/>
            </a:stretch>
          </a:blipFill>
        </p:spPr>
      </p:sp>
      <p:sp>
        <p:nvSpPr>
          <p:cNvPr name="Freeform 8" id="8"/>
          <p:cNvSpPr/>
          <p:nvPr/>
        </p:nvSpPr>
        <p:spPr>
          <a:xfrm flipH="false" flipV="false" rot="0">
            <a:off x="10164639" y="4389738"/>
            <a:ext cx="7094661" cy="2991057"/>
          </a:xfrm>
          <a:custGeom>
            <a:avLst/>
            <a:gdLst/>
            <a:ahLst/>
            <a:cxnLst/>
            <a:rect r="r" b="b" t="t" l="l"/>
            <a:pathLst>
              <a:path h="2991057" w="7094661">
                <a:moveTo>
                  <a:pt x="0" y="0"/>
                </a:moveTo>
                <a:lnTo>
                  <a:pt x="7094661" y="0"/>
                </a:lnTo>
                <a:lnTo>
                  <a:pt x="7094661" y="2991057"/>
                </a:lnTo>
                <a:lnTo>
                  <a:pt x="0" y="2991057"/>
                </a:lnTo>
                <a:lnTo>
                  <a:pt x="0" y="0"/>
                </a:lnTo>
                <a:close/>
              </a:path>
            </a:pathLst>
          </a:custGeom>
          <a:blipFill>
            <a:blip r:embed="rId11"/>
            <a:stretch>
              <a:fillRect l="0" t="-30558" r="0" b="-184136"/>
            </a:stretch>
          </a:blipFill>
        </p:spPr>
      </p:sp>
      <p:sp>
        <p:nvSpPr>
          <p:cNvPr name="TextBox 9" id="9"/>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Loading</a:t>
            </a:r>
            <a:r>
              <a:rPr lang="en-US" sz="3000">
                <a:solidFill>
                  <a:srgbClr val="000000"/>
                </a:solidFill>
                <a:latin typeface="Roboto"/>
                <a:ea typeface="Roboto"/>
                <a:cs typeface="Roboto"/>
                <a:sym typeface="Roboto"/>
              </a:rPr>
              <a:t> Chat History</a:t>
            </a:r>
          </a:p>
        </p:txBody>
      </p:sp>
      <p:sp>
        <p:nvSpPr>
          <p:cNvPr name="TextBox 10" id="10"/>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613513" y="2331451"/>
            <a:ext cx="9120589"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     savingChatHistory() </a:t>
            </a:r>
            <a:r>
              <a:rPr lang="en-US" sz="2497">
                <a:solidFill>
                  <a:srgbClr val="000000"/>
                </a:solidFill>
                <a:latin typeface="Roboto"/>
                <a:ea typeface="Roboto"/>
                <a:cs typeface="Roboto"/>
                <a:sym typeface="Roboto"/>
              </a:rPr>
              <a:t>save</a:t>
            </a:r>
            <a:r>
              <a:rPr lang="en-US" sz="2497">
                <a:solidFill>
                  <a:srgbClr val="000000"/>
                </a:solidFill>
                <a:latin typeface="Roboto"/>
                <a:ea typeface="Roboto"/>
                <a:cs typeface="Roboto"/>
                <a:sym typeface="Roboto"/>
              </a:rPr>
              <a:t>s sent messages to the chat history.</a:t>
            </a:r>
          </a:p>
        </p:txBody>
      </p:sp>
      <p:sp>
        <p:nvSpPr>
          <p:cNvPr name="Freeform 6" id="6"/>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7" id="7"/>
          <p:cNvSpPr/>
          <p:nvPr/>
        </p:nvSpPr>
        <p:spPr>
          <a:xfrm flipH="false" flipV="false" rot="0">
            <a:off x="1028700" y="3646096"/>
            <a:ext cx="9051590" cy="2994807"/>
          </a:xfrm>
          <a:custGeom>
            <a:avLst/>
            <a:gdLst/>
            <a:ahLst/>
            <a:cxnLst/>
            <a:rect r="r" b="b" t="t" l="l"/>
            <a:pathLst>
              <a:path h="2994807" w="9051590">
                <a:moveTo>
                  <a:pt x="0" y="0"/>
                </a:moveTo>
                <a:lnTo>
                  <a:pt x="9051590" y="0"/>
                </a:lnTo>
                <a:lnTo>
                  <a:pt x="9051590" y="2994808"/>
                </a:lnTo>
                <a:lnTo>
                  <a:pt x="0" y="2994808"/>
                </a:lnTo>
                <a:lnTo>
                  <a:pt x="0" y="0"/>
                </a:lnTo>
                <a:close/>
              </a:path>
            </a:pathLst>
          </a:custGeom>
          <a:blipFill>
            <a:blip r:embed="rId10"/>
            <a:stretch>
              <a:fillRect l="0" t="0" r="-9819" b="-9596"/>
            </a:stretch>
          </a:blipFill>
        </p:spPr>
      </p:sp>
      <p:sp>
        <p:nvSpPr>
          <p:cNvPr name="Freeform 8" id="8"/>
          <p:cNvSpPr/>
          <p:nvPr/>
        </p:nvSpPr>
        <p:spPr>
          <a:xfrm flipH="false" flipV="false" rot="0">
            <a:off x="10402802" y="3375102"/>
            <a:ext cx="7085978" cy="3536795"/>
          </a:xfrm>
          <a:custGeom>
            <a:avLst/>
            <a:gdLst/>
            <a:ahLst/>
            <a:cxnLst/>
            <a:rect r="r" b="b" t="t" l="l"/>
            <a:pathLst>
              <a:path h="3536795" w="7085978">
                <a:moveTo>
                  <a:pt x="0" y="0"/>
                </a:moveTo>
                <a:lnTo>
                  <a:pt x="7085978" y="0"/>
                </a:lnTo>
                <a:lnTo>
                  <a:pt x="7085978" y="3536796"/>
                </a:lnTo>
                <a:lnTo>
                  <a:pt x="0" y="3536796"/>
                </a:lnTo>
                <a:lnTo>
                  <a:pt x="0" y="0"/>
                </a:lnTo>
                <a:close/>
              </a:path>
            </a:pathLst>
          </a:custGeom>
          <a:blipFill>
            <a:blip r:embed="rId11"/>
            <a:stretch>
              <a:fillRect l="0" t="-106247" r="0" b="-59563"/>
            </a:stretch>
          </a:blipFill>
        </p:spPr>
      </p:sp>
      <p:sp>
        <p:nvSpPr>
          <p:cNvPr name="TextBox 9" id="9"/>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Saving</a:t>
            </a:r>
            <a:r>
              <a:rPr lang="en-US" sz="3000">
                <a:solidFill>
                  <a:srgbClr val="000000"/>
                </a:solidFill>
                <a:latin typeface="Roboto"/>
                <a:ea typeface="Roboto"/>
                <a:cs typeface="Roboto"/>
                <a:sym typeface="Roboto"/>
              </a:rPr>
              <a:t> Chat History</a:t>
            </a:r>
          </a:p>
        </p:txBody>
      </p:sp>
      <p:sp>
        <p:nvSpPr>
          <p:cNvPr name="TextBox 10" id="10"/>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647185" y="2339706"/>
            <a:ext cx="12244426" cy="422355"/>
          </a:xfrm>
          <a:prstGeom prst="rect">
            <a:avLst/>
          </a:prstGeom>
        </p:spPr>
        <p:txBody>
          <a:bodyPr anchor="t" rtlCol="false" tIns="0" lIns="0" bIns="0" rIns="0">
            <a:spAutoFit/>
          </a:bodyPr>
          <a:lstStyle/>
          <a:p>
            <a:pPr algn="l">
              <a:lnSpc>
                <a:spcPts val="3496"/>
              </a:lnSpc>
            </a:pPr>
            <a:r>
              <a:rPr lang="en-US" sz="2497" b="true">
                <a:solidFill>
                  <a:srgbClr val="000000"/>
                </a:solidFill>
                <a:latin typeface="Roboto Bold"/>
                <a:ea typeface="Roboto Bold"/>
                <a:cs typeface="Roboto Bold"/>
                <a:sym typeface="Roboto Bold"/>
              </a:rPr>
              <a:t>     clearChatHistory() </a:t>
            </a:r>
            <a:r>
              <a:rPr lang="en-US" sz="2497">
                <a:solidFill>
                  <a:srgbClr val="000000"/>
                </a:solidFill>
                <a:latin typeface="Roboto"/>
                <a:ea typeface="Roboto"/>
                <a:cs typeface="Roboto"/>
                <a:sym typeface="Roboto"/>
              </a:rPr>
              <a:t>clears the chat history by resetting the message count.</a:t>
            </a:r>
          </a:p>
        </p:txBody>
      </p:sp>
      <p:sp>
        <p:nvSpPr>
          <p:cNvPr name="Freeform 6" id="6"/>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7" id="7"/>
          <p:cNvSpPr/>
          <p:nvPr/>
        </p:nvSpPr>
        <p:spPr>
          <a:xfrm flipH="false" flipV="false" rot="0">
            <a:off x="1028700" y="3911962"/>
            <a:ext cx="8961081" cy="2487520"/>
          </a:xfrm>
          <a:custGeom>
            <a:avLst/>
            <a:gdLst/>
            <a:ahLst/>
            <a:cxnLst/>
            <a:rect r="r" b="b" t="t" l="l"/>
            <a:pathLst>
              <a:path h="2487520" w="8961081">
                <a:moveTo>
                  <a:pt x="0" y="0"/>
                </a:moveTo>
                <a:lnTo>
                  <a:pt x="8961081" y="0"/>
                </a:lnTo>
                <a:lnTo>
                  <a:pt x="8961081" y="2487520"/>
                </a:lnTo>
                <a:lnTo>
                  <a:pt x="0" y="2487520"/>
                </a:lnTo>
                <a:lnTo>
                  <a:pt x="0" y="0"/>
                </a:lnTo>
                <a:close/>
              </a:path>
            </a:pathLst>
          </a:custGeom>
          <a:blipFill>
            <a:blip r:embed="rId10"/>
            <a:stretch>
              <a:fillRect l="0" t="0" r="-8153" b="-16394"/>
            </a:stretch>
          </a:blipFill>
        </p:spPr>
      </p:sp>
      <p:sp>
        <p:nvSpPr>
          <p:cNvPr name="Freeform 8" id="8"/>
          <p:cNvSpPr/>
          <p:nvPr/>
        </p:nvSpPr>
        <p:spPr>
          <a:xfrm flipH="false" flipV="false" rot="0">
            <a:off x="10421257" y="3432959"/>
            <a:ext cx="7417448" cy="3445524"/>
          </a:xfrm>
          <a:custGeom>
            <a:avLst/>
            <a:gdLst/>
            <a:ahLst/>
            <a:cxnLst/>
            <a:rect r="r" b="b" t="t" l="l"/>
            <a:pathLst>
              <a:path h="3445524" w="7417448">
                <a:moveTo>
                  <a:pt x="0" y="0"/>
                </a:moveTo>
                <a:lnTo>
                  <a:pt x="7417448" y="0"/>
                </a:lnTo>
                <a:lnTo>
                  <a:pt x="7417448" y="3445525"/>
                </a:lnTo>
                <a:lnTo>
                  <a:pt x="0" y="3445525"/>
                </a:lnTo>
                <a:lnTo>
                  <a:pt x="0" y="0"/>
                </a:lnTo>
                <a:close/>
              </a:path>
            </a:pathLst>
          </a:custGeom>
          <a:blipFill>
            <a:blip r:embed="rId11"/>
            <a:stretch>
              <a:fillRect l="0" t="0" r="0" b="0"/>
            </a:stretch>
          </a:blipFill>
        </p:spPr>
      </p:sp>
      <p:sp>
        <p:nvSpPr>
          <p:cNvPr name="TextBox 9" id="9"/>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7</a:t>
            </a:r>
          </a:p>
        </p:txBody>
      </p:sp>
      <p:sp>
        <p:nvSpPr>
          <p:cNvPr name="TextBox 10" id="10"/>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Clearing</a:t>
            </a:r>
            <a:r>
              <a:rPr lang="en-US" sz="3000">
                <a:solidFill>
                  <a:srgbClr val="000000"/>
                </a:solidFill>
                <a:latin typeface="Roboto"/>
                <a:ea typeface="Roboto"/>
                <a:cs typeface="Roboto"/>
                <a:sym typeface="Roboto"/>
              </a:rPr>
              <a:t> Chat History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6" id="6"/>
          <p:cNvSpPr/>
          <p:nvPr/>
        </p:nvSpPr>
        <p:spPr>
          <a:xfrm flipH="false" flipV="false" rot="0">
            <a:off x="1880823" y="3599054"/>
            <a:ext cx="7415119" cy="5866849"/>
          </a:xfrm>
          <a:custGeom>
            <a:avLst/>
            <a:gdLst/>
            <a:ahLst/>
            <a:cxnLst/>
            <a:rect r="r" b="b" t="t" l="l"/>
            <a:pathLst>
              <a:path h="5866849" w="7415119">
                <a:moveTo>
                  <a:pt x="0" y="0"/>
                </a:moveTo>
                <a:lnTo>
                  <a:pt x="7415119" y="0"/>
                </a:lnTo>
                <a:lnTo>
                  <a:pt x="7415119" y="5866849"/>
                </a:lnTo>
                <a:lnTo>
                  <a:pt x="0" y="5866849"/>
                </a:lnTo>
                <a:lnTo>
                  <a:pt x="0" y="0"/>
                </a:lnTo>
                <a:close/>
              </a:path>
            </a:pathLst>
          </a:custGeom>
          <a:blipFill>
            <a:blip r:embed="rId10"/>
            <a:stretch>
              <a:fillRect l="0" t="0" r="-11446" b="-10294"/>
            </a:stretch>
          </a:blipFill>
        </p:spPr>
      </p:sp>
      <p:sp>
        <p:nvSpPr>
          <p:cNvPr name="Freeform 7" id="7"/>
          <p:cNvSpPr/>
          <p:nvPr/>
        </p:nvSpPr>
        <p:spPr>
          <a:xfrm flipH="false" flipV="false" rot="0">
            <a:off x="9731608" y="3599054"/>
            <a:ext cx="6495962" cy="5866849"/>
          </a:xfrm>
          <a:custGeom>
            <a:avLst/>
            <a:gdLst/>
            <a:ahLst/>
            <a:cxnLst/>
            <a:rect r="r" b="b" t="t" l="l"/>
            <a:pathLst>
              <a:path h="5866849" w="6495962">
                <a:moveTo>
                  <a:pt x="0" y="0"/>
                </a:moveTo>
                <a:lnTo>
                  <a:pt x="6495962" y="0"/>
                </a:lnTo>
                <a:lnTo>
                  <a:pt x="6495962" y="5866849"/>
                </a:lnTo>
                <a:lnTo>
                  <a:pt x="0" y="5866849"/>
                </a:lnTo>
                <a:lnTo>
                  <a:pt x="0" y="0"/>
                </a:lnTo>
                <a:close/>
              </a:path>
            </a:pathLst>
          </a:custGeom>
          <a:blipFill>
            <a:blip r:embed="rId11"/>
            <a:stretch>
              <a:fillRect l="0" t="0" r="0" b="0"/>
            </a:stretch>
          </a:blipFill>
        </p:spPr>
      </p:sp>
      <p:sp>
        <p:nvSpPr>
          <p:cNvPr name="TextBox 8" id="8"/>
          <p:cNvSpPr txBox="true"/>
          <p:nvPr/>
        </p:nvSpPr>
        <p:spPr>
          <a:xfrm rot="0">
            <a:off x="1974436" y="2248967"/>
            <a:ext cx="15514344" cy="860505"/>
          </a:xfrm>
          <a:prstGeom prst="rect">
            <a:avLst/>
          </a:prstGeom>
        </p:spPr>
        <p:txBody>
          <a:bodyPr anchor="t" rtlCol="false" tIns="0" lIns="0" bIns="0" rIns="0">
            <a:spAutoFit/>
          </a:bodyPr>
          <a:lstStyle/>
          <a:p>
            <a:pPr algn="just">
              <a:lnSpc>
                <a:spcPts val="3496"/>
              </a:lnSpc>
            </a:pPr>
            <a:r>
              <a:rPr lang="en-US" sz="2497" b="true">
                <a:solidFill>
                  <a:srgbClr val="000000"/>
                </a:solidFill>
                <a:latin typeface="Roboto Bold"/>
                <a:ea typeface="Roboto Bold"/>
                <a:cs typeface="Roboto Bold"/>
                <a:sym typeface="Roboto Bold"/>
              </a:rPr>
              <a:t>SearchMessages() </a:t>
            </a:r>
            <a:r>
              <a:rPr lang="en-US" sz="2497">
                <a:solidFill>
                  <a:srgbClr val="000000"/>
                </a:solidFill>
                <a:latin typeface="Roboto"/>
                <a:ea typeface="Roboto"/>
                <a:cs typeface="Roboto"/>
                <a:sym typeface="Roboto"/>
              </a:rPr>
              <a:t>searches specific text from the conversation using getline function, loops &amp; conditional staement.</a:t>
            </a:r>
          </a:p>
        </p:txBody>
      </p:sp>
      <p:sp>
        <p:nvSpPr>
          <p:cNvPr name="TextBox 9" id="9"/>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8</a:t>
            </a:r>
          </a:p>
        </p:txBody>
      </p:sp>
      <p:sp>
        <p:nvSpPr>
          <p:cNvPr name="TextBox 10" id="10"/>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Searching text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6" id="6"/>
          <p:cNvSpPr/>
          <p:nvPr/>
        </p:nvSpPr>
        <p:spPr>
          <a:xfrm flipH="false" flipV="false" rot="0">
            <a:off x="4901397" y="2995408"/>
            <a:ext cx="9660421" cy="4352664"/>
          </a:xfrm>
          <a:custGeom>
            <a:avLst/>
            <a:gdLst/>
            <a:ahLst/>
            <a:cxnLst/>
            <a:rect r="r" b="b" t="t" l="l"/>
            <a:pathLst>
              <a:path h="4352664" w="9660421">
                <a:moveTo>
                  <a:pt x="0" y="0"/>
                </a:moveTo>
                <a:lnTo>
                  <a:pt x="9660421" y="0"/>
                </a:lnTo>
                <a:lnTo>
                  <a:pt x="9660421" y="4352664"/>
                </a:lnTo>
                <a:lnTo>
                  <a:pt x="0" y="4352664"/>
                </a:lnTo>
                <a:lnTo>
                  <a:pt x="0" y="0"/>
                </a:lnTo>
                <a:close/>
              </a:path>
            </a:pathLst>
          </a:custGeom>
          <a:blipFill>
            <a:blip r:embed="rId10"/>
            <a:stretch>
              <a:fillRect l="0" t="0" r="-4584" b="0"/>
            </a:stretch>
          </a:blipFill>
        </p:spPr>
      </p:sp>
      <p:sp>
        <p:nvSpPr>
          <p:cNvPr name="Freeform 7" id="7"/>
          <p:cNvSpPr/>
          <p:nvPr/>
        </p:nvSpPr>
        <p:spPr>
          <a:xfrm flipH="false" flipV="false" rot="0">
            <a:off x="2307824" y="7671922"/>
            <a:ext cx="14847567" cy="1918378"/>
          </a:xfrm>
          <a:custGeom>
            <a:avLst/>
            <a:gdLst/>
            <a:ahLst/>
            <a:cxnLst/>
            <a:rect r="r" b="b" t="t" l="l"/>
            <a:pathLst>
              <a:path h="1918378" w="14847567">
                <a:moveTo>
                  <a:pt x="0" y="0"/>
                </a:moveTo>
                <a:lnTo>
                  <a:pt x="14847567" y="0"/>
                </a:lnTo>
                <a:lnTo>
                  <a:pt x="14847567" y="1918378"/>
                </a:lnTo>
                <a:lnTo>
                  <a:pt x="0" y="1918378"/>
                </a:lnTo>
                <a:lnTo>
                  <a:pt x="0" y="0"/>
                </a:lnTo>
                <a:close/>
              </a:path>
            </a:pathLst>
          </a:custGeom>
          <a:blipFill>
            <a:blip r:embed="rId11"/>
            <a:stretch>
              <a:fillRect l="0" t="0" r="0" b="0"/>
            </a:stretch>
          </a:blipFill>
        </p:spPr>
      </p:sp>
      <p:sp>
        <p:nvSpPr>
          <p:cNvPr name="TextBox 8" id="8"/>
          <p:cNvSpPr txBox="true"/>
          <p:nvPr/>
        </p:nvSpPr>
        <p:spPr>
          <a:xfrm rot="0">
            <a:off x="1974436" y="2248967"/>
            <a:ext cx="15514344" cy="422355"/>
          </a:xfrm>
          <a:prstGeom prst="rect">
            <a:avLst/>
          </a:prstGeom>
        </p:spPr>
        <p:txBody>
          <a:bodyPr anchor="t" rtlCol="false" tIns="0" lIns="0" bIns="0" rIns="0">
            <a:spAutoFit/>
          </a:bodyPr>
          <a:lstStyle/>
          <a:p>
            <a:pPr algn="just">
              <a:lnSpc>
                <a:spcPts val="3496"/>
              </a:lnSpc>
            </a:pPr>
            <a:r>
              <a:rPr lang="en-US" sz="2497" b="true">
                <a:solidFill>
                  <a:srgbClr val="000000"/>
                </a:solidFill>
                <a:latin typeface="Roboto Bold"/>
                <a:ea typeface="Roboto Bold"/>
                <a:cs typeface="Roboto Bold"/>
                <a:sym typeface="Roboto Bold"/>
              </a:rPr>
              <a:t>editLastMessage() </a:t>
            </a:r>
            <a:r>
              <a:rPr lang="en-US" sz="2497">
                <a:solidFill>
                  <a:srgbClr val="000000"/>
                </a:solidFill>
                <a:latin typeface="Roboto"/>
                <a:ea typeface="Roboto"/>
                <a:cs typeface="Roboto"/>
                <a:sym typeface="Roboto"/>
              </a:rPr>
              <a:t>edit the last message using string, constant, getline function &amp; loop statements.</a:t>
            </a:r>
          </a:p>
        </p:txBody>
      </p:sp>
      <p:sp>
        <p:nvSpPr>
          <p:cNvPr name="TextBox 9" id="9"/>
          <p:cNvSpPr txBox="true"/>
          <p:nvPr/>
        </p:nvSpPr>
        <p:spPr>
          <a:xfrm rot="0">
            <a:off x="17838705" y="543216"/>
            <a:ext cx="17109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9</a:t>
            </a:r>
          </a:p>
        </p:txBody>
      </p:sp>
      <p:sp>
        <p:nvSpPr>
          <p:cNvPr name="TextBox 10" id="10"/>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Edit the last message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23637" y="6850324"/>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Freeform 3" id="3"/>
          <p:cNvSpPr/>
          <p:nvPr/>
        </p:nvSpPr>
        <p:spPr>
          <a:xfrm flipH="false" flipV="false" rot="0">
            <a:off x="1215985" y="1932552"/>
            <a:ext cx="6885753" cy="202115"/>
          </a:xfrm>
          <a:custGeom>
            <a:avLst/>
            <a:gdLst/>
            <a:ahLst/>
            <a:cxnLst/>
            <a:rect r="r" b="b" t="t" l="l"/>
            <a:pathLst>
              <a:path h="202115" w="6885753">
                <a:moveTo>
                  <a:pt x="0" y="0"/>
                </a:moveTo>
                <a:lnTo>
                  <a:pt x="6885753" y="0"/>
                </a:lnTo>
                <a:lnTo>
                  <a:pt x="6885753" y="202115"/>
                </a:lnTo>
                <a:lnTo>
                  <a:pt x="0" y="202115"/>
                </a:lnTo>
                <a:lnTo>
                  <a:pt x="0" y="0"/>
                </a:lnTo>
                <a:close/>
              </a:path>
            </a:pathLst>
          </a:custGeom>
          <a:blipFill>
            <a:blip r:embed="rId4">
              <a:extLst>
                <a:ext uri="{96DAC541-7B7A-43D3-8B79-37D633B846F1}">
                  <asvg:svgBlip xmlns:asvg="http://schemas.microsoft.com/office/drawing/2016/SVG/main" r:embed="rId5"/>
                </a:ext>
              </a:extLst>
            </a:blip>
            <a:stretch>
              <a:fillRect l="0" t="-4330" r="0" b="-4330"/>
            </a:stretch>
          </a:blipFill>
        </p:spPr>
      </p:sp>
      <p:sp>
        <p:nvSpPr>
          <p:cNvPr name="Freeform 4" id="4"/>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5985" y="2245241"/>
            <a:ext cx="664838" cy="642400"/>
          </a:xfrm>
          <a:custGeom>
            <a:avLst/>
            <a:gdLst/>
            <a:ahLst/>
            <a:cxnLst/>
            <a:rect r="r" b="b" t="t" l="l"/>
            <a:pathLst>
              <a:path h="642400" w="664838">
                <a:moveTo>
                  <a:pt x="0" y="0"/>
                </a:moveTo>
                <a:lnTo>
                  <a:pt x="664838" y="0"/>
                </a:lnTo>
                <a:lnTo>
                  <a:pt x="664838" y="642400"/>
                </a:lnTo>
                <a:lnTo>
                  <a:pt x="0" y="642400"/>
                </a:lnTo>
                <a:lnTo>
                  <a:pt x="0" y="0"/>
                </a:lnTo>
                <a:close/>
              </a:path>
            </a:pathLst>
          </a:custGeom>
          <a:blipFill>
            <a:blip r:embed="rId8">
              <a:extLst>
                <a:ext uri="{96DAC541-7B7A-43D3-8B79-37D633B846F1}">
                  <asvg:svgBlip xmlns:asvg="http://schemas.microsoft.com/office/drawing/2016/SVG/main" r:embed="rId9"/>
                </a:ext>
              </a:extLst>
            </a:blip>
            <a:stretch>
              <a:fillRect l="0" t="-267" r="0" b="-267"/>
            </a:stretch>
          </a:blipFill>
          <a:ln cap="sq">
            <a:noFill/>
            <a:prstDash val="solid"/>
            <a:miter/>
          </a:ln>
        </p:spPr>
      </p:sp>
      <p:sp>
        <p:nvSpPr>
          <p:cNvPr name="Freeform 6" id="6"/>
          <p:cNvSpPr/>
          <p:nvPr/>
        </p:nvSpPr>
        <p:spPr>
          <a:xfrm flipH="false" flipV="false" rot="0">
            <a:off x="4579879" y="2887641"/>
            <a:ext cx="10303457" cy="3470399"/>
          </a:xfrm>
          <a:custGeom>
            <a:avLst/>
            <a:gdLst/>
            <a:ahLst/>
            <a:cxnLst/>
            <a:rect r="r" b="b" t="t" l="l"/>
            <a:pathLst>
              <a:path h="3470399" w="10303457">
                <a:moveTo>
                  <a:pt x="0" y="0"/>
                </a:moveTo>
                <a:lnTo>
                  <a:pt x="10303458" y="0"/>
                </a:lnTo>
                <a:lnTo>
                  <a:pt x="10303458" y="3470398"/>
                </a:lnTo>
                <a:lnTo>
                  <a:pt x="0" y="3470398"/>
                </a:lnTo>
                <a:lnTo>
                  <a:pt x="0" y="0"/>
                </a:lnTo>
                <a:close/>
              </a:path>
            </a:pathLst>
          </a:custGeom>
          <a:blipFill>
            <a:blip r:embed="rId10"/>
            <a:stretch>
              <a:fillRect l="-1291" t="0" r="-19408" b="-27338"/>
            </a:stretch>
          </a:blipFill>
        </p:spPr>
      </p:sp>
      <p:sp>
        <p:nvSpPr>
          <p:cNvPr name="Freeform 7" id="7"/>
          <p:cNvSpPr/>
          <p:nvPr/>
        </p:nvSpPr>
        <p:spPr>
          <a:xfrm flipH="false" flipV="false" rot="0">
            <a:off x="2032917" y="6850324"/>
            <a:ext cx="15397383" cy="1664901"/>
          </a:xfrm>
          <a:custGeom>
            <a:avLst/>
            <a:gdLst/>
            <a:ahLst/>
            <a:cxnLst/>
            <a:rect r="r" b="b" t="t" l="l"/>
            <a:pathLst>
              <a:path h="1664901" w="15397383">
                <a:moveTo>
                  <a:pt x="0" y="0"/>
                </a:moveTo>
                <a:lnTo>
                  <a:pt x="15397382" y="0"/>
                </a:lnTo>
                <a:lnTo>
                  <a:pt x="15397382" y="1664901"/>
                </a:lnTo>
                <a:lnTo>
                  <a:pt x="0" y="1664901"/>
                </a:lnTo>
                <a:lnTo>
                  <a:pt x="0" y="0"/>
                </a:lnTo>
                <a:close/>
              </a:path>
            </a:pathLst>
          </a:custGeom>
          <a:blipFill>
            <a:blip r:embed="rId11"/>
            <a:stretch>
              <a:fillRect l="0" t="0" r="0" b="0"/>
            </a:stretch>
          </a:blipFill>
        </p:spPr>
      </p:sp>
      <p:sp>
        <p:nvSpPr>
          <p:cNvPr name="TextBox 8" id="8"/>
          <p:cNvSpPr txBox="true"/>
          <p:nvPr/>
        </p:nvSpPr>
        <p:spPr>
          <a:xfrm rot="0">
            <a:off x="1974436" y="2248967"/>
            <a:ext cx="15514344" cy="422355"/>
          </a:xfrm>
          <a:prstGeom prst="rect">
            <a:avLst/>
          </a:prstGeom>
        </p:spPr>
        <p:txBody>
          <a:bodyPr anchor="t" rtlCol="false" tIns="0" lIns="0" bIns="0" rIns="0">
            <a:spAutoFit/>
          </a:bodyPr>
          <a:lstStyle/>
          <a:p>
            <a:pPr algn="just">
              <a:lnSpc>
                <a:spcPts val="3496"/>
              </a:lnSpc>
            </a:pPr>
            <a:r>
              <a:rPr lang="en-US" sz="2497" b="true">
                <a:solidFill>
                  <a:srgbClr val="000000"/>
                </a:solidFill>
                <a:latin typeface="Roboto Bold"/>
                <a:ea typeface="Roboto Bold"/>
                <a:cs typeface="Roboto Bold"/>
                <a:sym typeface="Roboto Bold"/>
              </a:rPr>
              <a:t>deleteLastMessage() </a:t>
            </a:r>
            <a:r>
              <a:rPr lang="en-US" sz="2497">
                <a:solidFill>
                  <a:srgbClr val="000000"/>
                </a:solidFill>
                <a:latin typeface="Roboto"/>
                <a:ea typeface="Roboto"/>
                <a:cs typeface="Roboto"/>
                <a:sym typeface="Roboto"/>
              </a:rPr>
              <a:t>edit the last message using string, constant, getline function &amp; loop statements.</a:t>
            </a:r>
          </a:p>
        </p:txBody>
      </p:sp>
      <p:sp>
        <p:nvSpPr>
          <p:cNvPr name="TextBox 9" id="9"/>
          <p:cNvSpPr txBox="true"/>
          <p:nvPr/>
        </p:nvSpPr>
        <p:spPr>
          <a:xfrm rot="0">
            <a:off x="17700922" y="598246"/>
            <a:ext cx="449295"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10</a:t>
            </a:r>
          </a:p>
        </p:txBody>
      </p:sp>
      <p:sp>
        <p:nvSpPr>
          <p:cNvPr name="TextBox 10" id="10"/>
          <p:cNvSpPr txBox="true"/>
          <p:nvPr/>
        </p:nvSpPr>
        <p:spPr>
          <a:xfrm rot="0">
            <a:off x="1215985" y="369636"/>
            <a:ext cx="7258304" cy="1403674"/>
          </a:xfrm>
          <a:prstGeom prst="rect">
            <a:avLst/>
          </a:prstGeom>
        </p:spPr>
        <p:txBody>
          <a:bodyPr anchor="t" rtlCol="false" tIns="0" lIns="0" bIns="0" rIns="0">
            <a:spAutoFit/>
          </a:bodyPr>
          <a:lstStyle/>
          <a:p>
            <a:pPr algn="l">
              <a:lnSpc>
                <a:spcPts val="6995"/>
              </a:lnSpc>
            </a:pPr>
            <a:r>
              <a:rPr lang="en-US" sz="5000" b="true">
                <a:solidFill>
                  <a:srgbClr val="000000"/>
                </a:solidFill>
                <a:latin typeface="Roboto Bold"/>
                <a:ea typeface="Roboto Bold"/>
                <a:cs typeface="Roboto Bold"/>
                <a:sym typeface="Roboto Bold"/>
              </a:rPr>
              <a:t>FEATURES OVERVIEW</a:t>
            </a:r>
          </a:p>
          <a:p>
            <a:pPr algn="l">
              <a:lnSpc>
                <a:spcPts val="4199"/>
              </a:lnSpc>
            </a:pPr>
            <a:r>
              <a:rPr lang="en-US" sz="3000">
                <a:solidFill>
                  <a:srgbClr val="000000"/>
                </a:solidFill>
                <a:latin typeface="Roboto"/>
                <a:ea typeface="Roboto"/>
                <a:cs typeface="Roboto"/>
                <a:sym typeface="Roboto"/>
              </a:rPr>
              <a:t>Delete the last message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515514" y="6508933"/>
            <a:ext cx="6154571" cy="4815952"/>
          </a:xfrm>
          <a:custGeom>
            <a:avLst/>
            <a:gdLst/>
            <a:ahLst/>
            <a:cxnLst/>
            <a:rect r="r" b="b" t="t" l="l"/>
            <a:pathLst>
              <a:path h="4815952" w="6154571">
                <a:moveTo>
                  <a:pt x="0" y="0"/>
                </a:moveTo>
                <a:lnTo>
                  <a:pt x="6154571" y="0"/>
                </a:lnTo>
                <a:lnTo>
                  <a:pt x="6154571" y="4815952"/>
                </a:lnTo>
                <a:lnTo>
                  <a:pt x="0" y="4815952"/>
                </a:lnTo>
                <a:lnTo>
                  <a:pt x="0" y="0"/>
                </a:lnTo>
                <a:close/>
              </a:path>
            </a:pathLst>
          </a:custGeom>
          <a:blipFill>
            <a:blip r:embed="rId2">
              <a:extLst>
                <a:ext uri="{96DAC541-7B7A-43D3-8B79-37D633B846F1}">
                  <asvg:svgBlip xmlns:asvg="http://schemas.microsoft.com/office/drawing/2016/SVG/main" r:embed="rId3"/>
                </a:ext>
              </a:extLst>
            </a:blip>
            <a:stretch>
              <a:fillRect l="-27" t="0" r="-27" b="0"/>
            </a:stretch>
          </a:blipFill>
        </p:spPr>
      </p:sp>
      <p:sp>
        <p:nvSpPr>
          <p:cNvPr name="TextBox 3" id="3"/>
          <p:cNvSpPr txBox="true"/>
          <p:nvPr/>
        </p:nvSpPr>
        <p:spPr>
          <a:xfrm rot="0">
            <a:off x="1028700" y="819150"/>
            <a:ext cx="4099203" cy="1001395"/>
          </a:xfrm>
          <a:prstGeom prst="rect">
            <a:avLst/>
          </a:prstGeom>
        </p:spPr>
        <p:txBody>
          <a:bodyPr anchor="t" rtlCol="false" tIns="0" lIns="0" bIns="0" rIns="0">
            <a:spAutoFit/>
          </a:bodyPr>
          <a:lstStyle/>
          <a:p>
            <a:pPr algn="ctr">
              <a:lnSpc>
                <a:spcPts val="7278"/>
              </a:lnSpc>
            </a:pPr>
            <a:r>
              <a:rPr lang="en-US" sz="5198" b="true">
                <a:solidFill>
                  <a:srgbClr val="000000"/>
                </a:solidFill>
                <a:latin typeface="Roboto Bold"/>
                <a:ea typeface="Roboto Bold"/>
                <a:cs typeface="Roboto Bold"/>
                <a:sym typeface="Roboto Bold"/>
              </a:rPr>
              <a:t>CONCLUSION</a:t>
            </a:r>
          </a:p>
        </p:txBody>
      </p:sp>
      <p:sp>
        <p:nvSpPr>
          <p:cNvPr name="Freeform 4" id="4"/>
          <p:cNvSpPr/>
          <p:nvPr/>
        </p:nvSpPr>
        <p:spPr>
          <a:xfrm flipH="false" flipV="false" rot="0">
            <a:off x="1028700" y="1820545"/>
            <a:ext cx="4501733" cy="120744"/>
          </a:xfrm>
          <a:custGeom>
            <a:avLst/>
            <a:gdLst/>
            <a:ahLst/>
            <a:cxnLst/>
            <a:rect r="r" b="b" t="t" l="l"/>
            <a:pathLst>
              <a:path h="120744" w="4501733">
                <a:moveTo>
                  <a:pt x="0" y="0"/>
                </a:moveTo>
                <a:lnTo>
                  <a:pt x="4501733" y="0"/>
                </a:lnTo>
                <a:lnTo>
                  <a:pt x="4501733" y="120744"/>
                </a:lnTo>
                <a:lnTo>
                  <a:pt x="0" y="120744"/>
                </a:lnTo>
                <a:lnTo>
                  <a:pt x="0" y="0"/>
                </a:lnTo>
                <a:close/>
              </a:path>
            </a:pathLst>
          </a:custGeom>
          <a:blipFill>
            <a:blip r:embed="rId4">
              <a:extLst>
                <a:ext uri="{96DAC541-7B7A-43D3-8B79-37D633B846F1}">
                  <asvg:svgBlip xmlns:asvg="http://schemas.microsoft.com/office/drawing/2016/SVG/main" r:embed="rId5"/>
                </a:ext>
              </a:extLst>
            </a:blip>
            <a:stretch>
              <a:fillRect l="0" t="-9117" r="0" b="-9117"/>
            </a:stretch>
          </a:blipFill>
        </p:spPr>
      </p:sp>
      <p:sp>
        <p:nvSpPr>
          <p:cNvPr name="Freeform 5" id="5"/>
          <p:cNvSpPr/>
          <p:nvPr/>
        </p:nvSpPr>
        <p:spPr>
          <a:xfrm flipH="false" flipV="false" rot="0">
            <a:off x="17488780" y="326714"/>
            <a:ext cx="1028700" cy="792384"/>
          </a:xfrm>
          <a:custGeom>
            <a:avLst/>
            <a:gdLst/>
            <a:ahLst/>
            <a:cxnLst/>
            <a:rect r="r" b="b" t="t" l="l"/>
            <a:pathLst>
              <a:path h="792384" w="1028700">
                <a:moveTo>
                  <a:pt x="0" y="0"/>
                </a:moveTo>
                <a:lnTo>
                  <a:pt x="1028700" y="0"/>
                </a:lnTo>
                <a:lnTo>
                  <a:pt x="1028700" y="792384"/>
                </a:lnTo>
                <a:lnTo>
                  <a:pt x="0" y="79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7691004" y="550250"/>
            <a:ext cx="562583" cy="430454"/>
          </a:xfrm>
          <a:prstGeom prst="rect">
            <a:avLst/>
          </a:prstGeom>
        </p:spPr>
        <p:txBody>
          <a:bodyPr anchor="t" rtlCol="false" tIns="0" lIns="0" bIns="0" rIns="0">
            <a:spAutoFit/>
          </a:bodyPr>
          <a:lstStyle/>
          <a:p>
            <a:pPr algn="ctr">
              <a:lnSpc>
                <a:spcPts val="3579"/>
              </a:lnSpc>
            </a:pPr>
            <a:r>
              <a:rPr lang="en-US" sz="2557" b="true">
                <a:solidFill>
                  <a:srgbClr val="FFFFFF"/>
                </a:solidFill>
                <a:latin typeface="Canva Sans Bold"/>
                <a:ea typeface="Canva Sans Bold"/>
                <a:cs typeface="Canva Sans Bold"/>
                <a:sym typeface="Canva Sans Bold"/>
              </a:rPr>
              <a:t>11</a:t>
            </a:r>
          </a:p>
        </p:txBody>
      </p:sp>
      <p:sp>
        <p:nvSpPr>
          <p:cNvPr name="TextBox 7" id="7"/>
          <p:cNvSpPr txBox="true"/>
          <p:nvPr/>
        </p:nvSpPr>
        <p:spPr>
          <a:xfrm rot="0">
            <a:off x="1028700" y="2053665"/>
            <a:ext cx="16460080" cy="1899285"/>
          </a:xfrm>
          <a:prstGeom prst="rect">
            <a:avLst/>
          </a:prstGeom>
        </p:spPr>
        <p:txBody>
          <a:bodyPr anchor="t" rtlCol="false" tIns="0" lIns="0" bIns="0" rIns="0">
            <a:spAutoFit/>
          </a:bodyPr>
          <a:lstStyle/>
          <a:p>
            <a:pPr algn="just">
              <a:lnSpc>
                <a:spcPts val="5040"/>
              </a:lnSpc>
            </a:pPr>
            <a:r>
              <a:rPr lang="en-US" sz="3600" b="true">
                <a:solidFill>
                  <a:srgbClr val="000000"/>
                </a:solidFill>
                <a:latin typeface="Roboto Bold"/>
                <a:ea typeface="Roboto Bold"/>
                <a:cs typeface="Roboto Bold"/>
                <a:sym typeface="Roboto Bold"/>
              </a:rPr>
              <a:t>The​‍​‌‍​‍‌ project implements</a:t>
            </a:r>
            <a:r>
              <a:rPr lang="en-US" sz="3600" b="true">
                <a:solidFill>
                  <a:srgbClr val="000000"/>
                </a:solidFill>
                <a:latin typeface="Roboto Bold"/>
                <a:ea typeface="Roboto Bold"/>
                <a:cs typeface="Roboto Bold"/>
                <a:sym typeface="Roboto Bold"/>
              </a:rPr>
              <a:t> a minimal chatting system for 2 users, with features like: saving conversations, searching message, editing &amp; deleting message,  clearing chat history &amp; logging out  sessions.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644337"/>
            <a:ext cx="18288000" cy="12207240"/>
            <a:chOff x="0" y="0"/>
            <a:chExt cx="24384000" cy="16276320"/>
          </a:xfrm>
        </p:grpSpPr>
        <p:sp>
          <p:nvSpPr>
            <p:cNvPr name="Freeform 3" id="3"/>
            <p:cNvSpPr/>
            <p:nvPr/>
          </p:nvSpPr>
          <p:spPr>
            <a:xfrm flipH="false" flipV="false" rot="0">
              <a:off x="0" y="0"/>
              <a:ext cx="24384000" cy="16276320"/>
            </a:xfrm>
            <a:custGeom>
              <a:avLst/>
              <a:gdLst/>
              <a:ahLst/>
              <a:cxnLst/>
              <a:rect r="r" b="b" t="t" l="l"/>
              <a:pathLst>
                <a:path h="16276320" w="24384000">
                  <a:moveTo>
                    <a:pt x="0" y="0"/>
                  </a:moveTo>
                  <a:lnTo>
                    <a:pt x="24384000" y="0"/>
                  </a:lnTo>
                  <a:lnTo>
                    <a:pt x="24384000" y="16276320"/>
                  </a:lnTo>
                  <a:lnTo>
                    <a:pt x="0" y="16276320"/>
                  </a:lnTo>
                  <a:lnTo>
                    <a:pt x="0" y="0"/>
                  </a:lnTo>
                  <a:close/>
                </a:path>
              </a:pathLst>
            </a:custGeom>
            <a:blipFill>
              <a:blip r:embed="rId2"/>
              <a:stretch>
                <a:fillRect l="0" t="-26" r="0" b="-26"/>
              </a:stretch>
            </a:blipFill>
          </p:spPr>
        </p:sp>
      </p:grpSp>
      <p:sp>
        <p:nvSpPr>
          <p:cNvPr name="Freeform 4" id="4"/>
          <p:cNvSpPr/>
          <p:nvPr/>
        </p:nvSpPr>
        <p:spPr>
          <a:xfrm flipH="false" flipV="false" rot="0">
            <a:off x="7613706" y="4142234"/>
            <a:ext cx="3060587" cy="4585150"/>
          </a:xfrm>
          <a:custGeom>
            <a:avLst/>
            <a:gdLst/>
            <a:ahLst/>
            <a:cxnLst/>
            <a:rect r="r" b="b" t="t" l="l"/>
            <a:pathLst>
              <a:path h="4585150" w="3060587">
                <a:moveTo>
                  <a:pt x="0" y="0"/>
                </a:moveTo>
                <a:lnTo>
                  <a:pt x="3060587" y="0"/>
                </a:lnTo>
                <a:lnTo>
                  <a:pt x="3060587" y="4585150"/>
                </a:lnTo>
                <a:lnTo>
                  <a:pt x="0" y="4585150"/>
                </a:lnTo>
                <a:lnTo>
                  <a:pt x="0" y="0"/>
                </a:lnTo>
                <a:close/>
              </a:path>
            </a:pathLst>
          </a:custGeom>
          <a:blipFill>
            <a:blip r:embed="rId3">
              <a:extLst>
                <a:ext uri="{96DAC541-7B7A-43D3-8B79-37D633B846F1}">
                  <asvg:svgBlip xmlns:asvg="http://schemas.microsoft.com/office/drawing/2016/SVG/main" r:embed="rId4"/>
                </a:ext>
              </a:extLst>
            </a:blip>
            <a:stretch>
              <a:fillRect l="-41" t="0" r="-41" b="0"/>
            </a:stretch>
          </a:blipFill>
        </p:spPr>
      </p:sp>
      <p:sp>
        <p:nvSpPr>
          <p:cNvPr name="TextBox 5" id="5"/>
          <p:cNvSpPr txBox="true"/>
          <p:nvPr/>
        </p:nvSpPr>
        <p:spPr>
          <a:xfrm rot="0">
            <a:off x="5777927" y="2363099"/>
            <a:ext cx="6732146" cy="1204139"/>
          </a:xfrm>
          <a:prstGeom prst="rect">
            <a:avLst/>
          </a:prstGeom>
        </p:spPr>
        <p:txBody>
          <a:bodyPr anchor="t" rtlCol="false" tIns="0" lIns="0" bIns="0" rIns="0">
            <a:spAutoFit/>
          </a:bodyPr>
          <a:lstStyle/>
          <a:p>
            <a:pPr algn="ctr">
              <a:lnSpc>
                <a:spcPts val="8793"/>
              </a:lnSpc>
            </a:pPr>
            <a:r>
              <a:rPr lang="en-US" sz="6281" b="true">
                <a:solidFill>
                  <a:srgbClr val="000000"/>
                </a:solidFill>
                <a:latin typeface="Roboto Bold"/>
                <a:ea typeface="Roboto Bold"/>
                <a:cs typeface="Roboto Bold"/>
                <a:sym typeface="Roboto Bold"/>
              </a:rPr>
              <a:t>ANY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DAG3-8x4rLM</dc:identifier>
  <dcterms:modified xsi:type="dcterms:W3CDTF">2011-08-01T06:04:30Z</dcterms:modified>
  <cp:revision>1</cp:revision>
  <dc:title>Talkspace Project presentation.pptx</dc:title>
</cp:coreProperties>
</file>